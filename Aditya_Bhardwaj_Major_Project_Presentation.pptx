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3715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91440"/>
            <a:ext cx="237744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1097280"/>
            <a:ext cx="8686800" cy="914400"/>
          </a:xfrm>
          <a:prstGeom prst="roundRect">
            <a:avLst>
              <a:gd name="adj" fmla="val 15000"/>
            </a:avLst>
          </a:prstGeom>
          <a:solidFill>
            <a:srgbClr val="E05A14"/>
          </a:solidFill>
          <a:ln w="12700">
            <a:solidFill>
              <a:srgbClr val="E05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228600" y="1097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Presentation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74320" y="2148840"/>
            <a:ext cx="8595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an Automated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Engineering Pipeline for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Processing &amp; Business Intelligence Reporting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754880" y="3520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4880" y="384048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✔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Aditya Bhardwaj</a:t>
            </a:r>
            <a:endParaRPr lang="en-US" sz="1200" dirty="0"/>
          </a:p>
          <a:p>
            <a:pPr marL="342900" indent="-342900">
              <a:buSzPct val="100000"/>
              <a:buChar char="✔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2424150039</a:t>
            </a:r>
            <a:endParaRPr lang="en-US" sz="1200" dirty="0"/>
          </a:p>
          <a:p>
            <a:pPr marL="342900" indent="-342900">
              <a:buSzPct val="100000"/>
              <a:buChar char="✔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– Dept. of Computer Applications</a:t>
            </a:r>
            <a:endParaRPr lang="en-US" sz="1200" dirty="0"/>
          </a:p>
          <a:p>
            <a:pPr marL="342900" indent="-342900">
              <a:buSzPct val="100000"/>
              <a:buChar char="✔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Guide: Dr. Pramod Kumar Soni (Assoc. Prof.)</a:t>
            </a:r>
            <a:endParaRPr lang="en-US" sz="1200" dirty="0"/>
          </a:p>
          <a:p>
            <a:pPr marL="342900" indent="-342900">
              <a:buSzPct val="100000"/>
              <a:buChar char="✔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Guide: Industry Mentor / N/A</a:t>
            </a:r>
            <a:endParaRPr lang="en-US" sz="1200" dirty="0"/>
          </a:p>
          <a:p>
            <a:pPr marL="342900" indent="-342900">
              <a:buSzPct val="100000"/>
              <a:buChar char="✔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University Jaipur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05A14"/>
          </a:solidFill>
          <a:ln w="12700">
            <a:solidFill>
              <a:srgbClr val="E05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Engineering Pipeline for Analytical Processing &amp; BI Reporting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0"/>
            <a:ext cx="19202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1905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2011680" cy="457200"/>
          </a:xfrm>
          <a:prstGeom prst="rect">
            <a:avLst/>
          </a:prstGeom>
          <a:solidFill>
            <a:srgbClr val="1F6E8C"/>
          </a:solidFill>
          <a:ln w="12700">
            <a:solidFill>
              <a:srgbClr val="1F6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 / Background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Problem Statement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Specific Objectives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Literature Review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Proposed Workflow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63440" y="16002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Progress / Work Done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Results &amp; Findings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Project Timeline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References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Thank You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05A14"/>
          </a:solidFill>
          <a:ln w="12700">
            <a:solidFill>
              <a:srgbClr val="E05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Engineering Pipeline for Analytical Processing &amp; BI Reporting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0"/>
            <a:ext cx="19202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1905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3657600" cy="457200"/>
          </a:xfrm>
          <a:prstGeom prst="rect">
            <a:avLst/>
          </a:prstGeom>
          <a:solidFill>
            <a:srgbClr val="1F6E8C"/>
          </a:solidFill>
          <a:ln w="12700">
            <a:solidFill>
              <a:srgbClr val="1F6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/ Background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11480" y="16002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retail businesses generate massive volumes of transactional data daily — spanning sales, customers, products, and geography.</a:t>
            </a:r>
            <a:endParaRPr lang="en-US" sz="14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remains siloed, unprocessed, and unavailable for real-time decision-making without a structured data pipeline.</a:t>
            </a:r>
            <a:endParaRPr lang="en-US" sz="14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(BI) tools require clean, transformed, and well-modelled data to produce actionable insights.</a:t>
            </a:r>
            <a:endParaRPr lang="en-US" sz="14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ETL processes are error-prone, slow, and difficult to scale across large datasets.</a:t>
            </a:r>
            <a:endParaRPr lang="en-US" sz="14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an automated, end-to-end Retail Data Engineering Pipeline that ingests, transforms, models, and visualizes retail sales data — enabling smart BI reporting.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05A14"/>
          </a:solidFill>
          <a:ln w="12700">
            <a:solidFill>
              <a:srgbClr val="E05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Engineering Pipeline for Analytical Processing &amp; BI Reporting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0"/>
            <a:ext cx="19202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1905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2743200" cy="457200"/>
          </a:xfrm>
          <a:prstGeom prst="rect">
            <a:avLst/>
          </a:prstGeom>
          <a:solidFill>
            <a:srgbClr val="1F6E8C"/>
          </a:solidFill>
          <a:ln w="12700">
            <a:solidFill>
              <a:srgbClr val="1F6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11480" y="16002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organizations lack a unified pipeline to process raw transactional data into analysis-ready formats.</a:t>
            </a:r>
            <a:endParaRPr lang="en-US" sz="14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mechanism for data cleaning, deduplication, and quality validation across large CSV/Excel datasets.</a:t>
            </a:r>
            <a:endParaRPr lang="en-US" sz="14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 dimensional data warehouse model (star/snowflake schema) suited for BI query performance.</a:t>
            </a:r>
            <a:endParaRPr lang="en-US" sz="14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dashboards are static — they cannot dynamically filter by city, date, product category, or customer segment.</a:t>
            </a:r>
            <a:endParaRPr lang="en-US" sz="14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centralized, scalable platform integrating ingestion → transformation → modelling → visualization in one workflow.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05A14"/>
          </a:solidFill>
          <a:ln w="12700">
            <a:solidFill>
              <a:srgbClr val="E05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Engineering Pipeline for Analytical Processing &amp; BI Reporting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0"/>
            <a:ext cx="19202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1905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2926080" cy="457200"/>
          </a:xfrm>
          <a:prstGeom prst="rect">
            <a:avLst/>
          </a:prstGeom>
          <a:solidFill>
            <a:srgbClr val="1F6E8C"/>
          </a:solidFill>
          <a:ln w="12700">
            <a:solidFill>
              <a:srgbClr val="1F6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11480" y="16002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an automated ETL pipeline for ingesting and transforming raw retail sales data (99K+ records).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perform systematic data cleaning: handling nulls, type casting, duplicate removal, and outlier detection.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model a star-schema data warehouse with dimension tables (Customer, Product, Location, Date) and a central fact table.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an interactive Power BI dashboard with KPI cards, trend analysis, revenue/orders by city, and dynamic filters.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enable real-time slicing of sales data by Order Date range and City Filter across all visual elements.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document and deploy the pipeline with configuration management and reproducible execution via Python scripts.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05A14"/>
          </a:solidFill>
          <a:ln w="12700">
            <a:solidFill>
              <a:srgbClr val="E05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Engineering Pipeline for Analytical Processing &amp; BI Reporting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0"/>
            <a:ext cx="19202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1905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3840480" cy="457200"/>
          </a:xfrm>
          <a:prstGeom prst="rect">
            <a:avLst/>
          </a:prstGeom>
          <a:solidFill>
            <a:srgbClr val="1F6E8C"/>
          </a:solidFill>
          <a:ln w="12700">
            <a:solidFill>
              <a:srgbClr val="1F6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(In Progress)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00200"/>
          <a:ext cx="8595360" cy="30175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/ 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Kimball &amp; Ross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star schema &amp; dimensional modelling for data warehouses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real-time pipeline automation covered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Kleppmann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Described stream &amp; batch data processing patterns for distributed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Retail-specific BI use cases not addressed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Provost &amp; Fawcett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Data-science pipeline design for actionable business insights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ML; ETL engineering not in 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Power BI Docs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DAX measures, data modelling best practices for interactive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Assumes clean data; no ingestion guidance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Labs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Transform-in-warehouse approach using SQL-based modelling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cloud DWH; local pipeline not covered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05A14"/>
          </a:solidFill>
          <a:ln w="12700">
            <a:solidFill>
              <a:srgbClr val="E05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Engineering Pipeline for Analytical Processing &amp; BI Reporting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0"/>
            <a:ext cx="19202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1905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2743200" cy="457200"/>
          </a:xfrm>
          <a:prstGeom prst="rect">
            <a:avLst/>
          </a:prstGeom>
          <a:solidFill>
            <a:srgbClr val="1F6E8C"/>
          </a:solidFill>
          <a:ln w="12700">
            <a:solidFill>
              <a:srgbClr val="1F6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Workflow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0040" y="1691640"/>
            <a:ext cx="1463040" cy="1371600"/>
          </a:xfrm>
          <a:prstGeom prst="rect">
            <a:avLst/>
          </a:prstGeom>
          <a:solidFill>
            <a:srgbClr val="E05A14"/>
          </a:solidFill>
          <a:ln w="12700">
            <a:solidFill>
              <a:srgbClr val="E05A1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20040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Raw 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(99K+ records)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19656" y="2377440"/>
            <a:ext cx="18288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865376" y="22128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11680" y="1691640"/>
            <a:ext cx="1463040" cy="1371600"/>
          </a:xfrm>
          <a:prstGeom prst="rect">
            <a:avLst/>
          </a:prstGeom>
          <a:solidFill>
            <a:srgbClr val="1F6E8C"/>
          </a:solidFill>
          <a:ln w="12700">
            <a:solidFill>
              <a:srgbClr val="1F6E8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011680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01168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Nulls, types,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511296" y="2377440"/>
            <a:ext cx="18288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557016" y="22128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703320" y="1691640"/>
            <a:ext cx="1463040" cy="1371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703320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70332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+ Fact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202936" y="2377440"/>
            <a:ext cx="18288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248656" y="22128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394960" y="1691640"/>
            <a:ext cx="1463040" cy="1371600"/>
          </a:xfrm>
          <a:prstGeom prst="rect">
            <a:avLst/>
          </a:prstGeom>
          <a:solidFill>
            <a:srgbClr val="1F6E8C"/>
          </a:solidFill>
          <a:ln w="12700">
            <a:solidFill>
              <a:srgbClr val="1F6E8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394960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Load 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9496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DB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894576" y="2377440"/>
            <a:ext cx="18288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940296" y="22128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086600" y="1691640"/>
            <a:ext cx="1463040" cy="1371600"/>
          </a:xfrm>
          <a:prstGeom prst="rect">
            <a:avLst/>
          </a:prstGeom>
          <a:solidFill>
            <a:srgbClr val="E05A14"/>
          </a:solidFill>
          <a:ln w="12700">
            <a:solidFill>
              <a:srgbClr val="E05A1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086600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08660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6576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371600" y="3246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SQLAlchemy)   |   PostgreSQL + PostGIS   |   Power BI Desktop   |   Git / GitHub   |   Jupyter Notebooks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05A14"/>
          </a:solidFill>
          <a:ln w="12700">
            <a:solidFill>
              <a:srgbClr val="E05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Engineering Pipeline for Analytical Processing &amp; BI Reporting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0"/>
            <a:ext cx="19202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1905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3474720" cy="457200"/>
          </a:xfrm>
          <a:prstGeom prst="rect">
            <a:avLst/>
          </a:prstGeom>
          <a:solidFill>
            <a:srgbClr val="1F6E8C"/>
          </a:solidFill>
          <a:ln w="12700">
            <a:solidFill>
              <a:srgbClr val="1F6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/ Work Done So Far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11480" y="1600200"/>
            <a:ext cx="8412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Dataset sourced: 99K+ retail transaction records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cleaning completed: nulls removed, types fixed, duplicates eliminated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Star schema designed: Dim_Customer, Dim_Product, Dim_Location, Dim_Date, Fact_Sales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ETL pipeline scripts written in Python (Pandas + SQLAlchemy)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Database loaded into PostgreSQL with proper indexing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Power BI dashboard connected and published (see Results)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Project folder structure organized: src/, data/, config/, schema/, notebooks/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Research paper / documentation — in progress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05A14"/>
          </a:solidFill>
          <a:ln w="12700">
            <a:solidFill>
              <a:srgbClr val="E05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Engineering Pipeline for Analytical Processing &amp; BI Reporting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0"/>
            <a:ext cx="19202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1905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2560320" cy="457200"/>
          </a:xfrm>
          <a:prstGeom prst="rect">
            <a:avLst/>
          </a:prstGeom>
          <a:solidFill>
            <a:srgbClr val="1F6E8C"/>
          </a:solidFill>
          <a:ln w="12700">
            <a:solidFill>
              <a:srgbClr val="1F6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Findings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68880" y="1572768"/>
            <a:ext cx="196596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468880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46888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99K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617720" y="1572768"/>
            <a:ext cx="196596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617720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61772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₹205.86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766560" y="1572768"/>
            <a:ext cx="196596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766560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76656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99K</a:t>
            </a:r>
            <a:endParaRPr lang="en-US" sz="2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463040"/>
            <a:ext cx="9105080" cy="3680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05A14"/>
          </a:solidFill>
          <a:ln w="12700">
            <a:solidFill>
              <a:srgbClr val="E05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Engineering Pipeline for Analytical Processing &amp; BI Reporting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0"/>
            <a:ext cx="19202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1905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2560320" cy="457200"/>
          </a:xfrm>
          <a:prstGeom prst="rect">
            <a:avLst/>
          </a:prstGeom>
          <a:solidFill>
            <a:srgbClr val="1F6E8C"/>
          </a:solidFill>
          <a:ln w="12700">
            <a:solidFill>
              <a:srgbClr val="1F6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0200"/>
          <a:ext cx="8503920" cy="29260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analysis, dataset sourcing, project folder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 &amp; preprocessing (nulls, types, duplicates, outliers)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 design — dimension &amp; fact table modelling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pipeline coding (Python: Pandas, SQLAlchemy) + DB 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dashboard development — KPIs, trends, city charts, filters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Testing, validation, performance optimization, documentation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paper writing, final QA, GitHub cleanup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report, presentation slides, demo video, viva preparation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05A14"/>
          </a:solidFill>
          <a:ln w="12700">
            <a:solidFill>
              <a:srgbClr val="E05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Engineering Pipeline for Analytical Processing &amp; BI Reporting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0"/>
            <a:ext cx="19202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1905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1828800" cy="457200"/>
          </a:xfrm>
          <a:prstGeom prst="rect">
            <a:avLst/>
          </a:prstGeom>
          <a:solidFill>
            <a:srgbClr val="1F6E8C"/>
          </a:solidFill>
          <a:ln w="12700">
            <a:solidFill>
              <a:srgbClr val="1F6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11480" y="1600200"/>
            <a:ext cx="84124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Kimball, R. &amp; Ross, M. (2013). The Data Warehouse Toolkit: The Definitive Guide to Dimensional Modelling, 3rd ed., Wiley.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Kleppmann, M. (2017). Designing Data-Intensive Applications. O'Reilly Media.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Provost, F. &amp; Fawcett, T. (2013). Data Science for Business. O'Reilly Media.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Microsoft. (2024). Power BI Documentation. Available: https://learn.microsoft.com/en-us/power-bi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dbt Labs. (2023). dbt Documentation — Analytics Engineering. Available: https://docs.getdbt.com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PostgreSQL Global Development Group. (2024). PostgreSQL 16 Documentation. Available: https://www.postgresql.org/docs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McKinney, W. (2022). Python for Data Analysis, 3rd ed., O'Reilly Media.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Pressman, R. S. (2015). Software Engineering: A Practitioner's Approach, 8th ed., McGraw-Hill Education.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05A14"/>
          </a:solidFill>
          <a:ln w="12700">
            <a:solidFill>
              <a:srgbClr val="E05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Engineering Pipeline for Analytical Processing &amp; BI Reporting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0"/>
            <a:ext cx="192024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0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Bhardwaj  |  Roll No: 2424150039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– Department of Computer Applications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University Jaipur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977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Dr. Pramod Kumar Soni (Associate Professor)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Applications, SCSE, Manipal University Jaipur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1201</Words>
  <Application>Microsoft Office PowerPoint</Application>
  <PresentationFormat>On-screen Show (16:9)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Data Engineering Pipeline - Major Project Presentation</dc:title>
  <dc:subject>PptxGenJS Presentation</dc:subject>
  <dc:creator>PptxGenJS</dc:creator>
  <cp:lastModifiedBy>Aditya Bhardwaj</cp:lastModifiedBy>
  <cp:revision>2</cp:revision>
  <dcterms:created xsi:type="dcterms:W3CDTF">2026-03-29T19:44:04Z</dcterms:created>
  <dcterms:modified xsi:type="dcterms:W3CDTF">2026-03-29T19:52:33Z</dcterms:modified>
</cp:coreProperties>
</file>